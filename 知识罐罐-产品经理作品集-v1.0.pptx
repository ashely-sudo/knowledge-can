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f61fa6249d41e3" /><Relationship Type="http://schemas.openxmlformats.org/officeDocument/2006/relationships/extended-properties" Target="/docProps/app.xml" Id="R439542c3aa6a412b" /><Relationship Type="http://schemas.openxmlformats.org/officeDocument/2006/relationships/officeDocument" Target="/ppt/presentation.xml" Id="Rb3803984782c46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be4aafd9d41dc"/>
  </p:sldMasterIdLst>
  <p:notesMasterIdLst>
    <p:notesMasterId xmlns:r="http://schemas.openxmlformats.org/officeDocument/2006/relationships" r:id="R628087236357454f"/>
  </p:notesMasterIdLst>
  <p:sldIdLst>
    <p:sldId xmlns:r="http://schemas.openxmlformats.org/officeDocument/2006/relationships" id="256" r:id="Ra4cda15980484916"/>
    <p:sldId xmlns:r="http://schemas.openxmlformats.org/officeDocument/2006/relationships" id="257" r:id="Ra58a538cfa2c4ade"/>
    <p:sldId xmlns:r="http://schemas.openxmlformats.org/officeDocument/2006/relationships" id="258" r:id="R622c465d0da44826"/>
    <p:sldId xmlns:r="http://schemas.openxmlformats.org/officeDocument/2006/relationships" id="259" r:id="Ra6605e17224a4eb6"/>
    <p:sldId xmlns:r="http://schemas.openxmlformats.org/officeDocument/2006/relationships" id="260" r:id="R365e23e8cf6842d1"/>
    <p:sldId xmlns:r="http://schemas.openxmlformats.org/officeDocument/2006/relationships" id="261" r:id="R17880d8bdcdf43b7"/>
    <p:sldId xmlns:r="http://schemas.openxmlformats.org/officeDocument/2006/relationships" id="262" r:id="Rce131210250e4347"/>
    <p:sldId xmlns:r="http://schemas.openxmlformats.org/officeDocument/2006/relationships" id="263" r:id="R0f3c1658a201424a"/>
    <p:sldId xmlns:r="http://schemas.openxmlformats.org/officeDocument/2006/relationships" id="264" r:id="Rafda4e9b265c4e28"/>
    <p:sldId xmlns:r="http://schemas.openxmlformats.org/officeDocument/2006/relationships" id="265" r:id="Rdbfd8822d8754b6c"/>
    <p:sldId xmlns:r="http://schemas.openxmlformats.org/officeDocument/2006/relationships" id="266" r:id="R94175bd6b7f94e85"/>
    <p:sldId xmlns:r="http://schemas.openxmlformats.org/officeDocument/2006/relationships" id="267" r:id="R53e4cb409b6f483e"/>
    <p:sldId xmlns:r="http://schemas.openxmlformats.org/officeDocument/2006/relationships" id="268" r:id="R2a16c59e18bc485b"/>
    <p:sldId xmlns:r="http://schemas.openxmlformats.org/officeDocument/2006/relationships" id="269" r:id="R43f1abd243c44a46"/>
    <p:sldId xmlns:r="http://schemas.openxmlformats.org/officeDocument/2006/relationships" id="270" r:id="Rdec230f0a4b74193"/>
    <p:sldId xmlns:r="http://schemas.openxmlformats.org/officeDocument/2006/relationships" id="271" r:id="Ra7e462cd283748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e6cfb51a746a3" /><Relationship Type="http://schemas.openxmlformats.org/officeDocument/2006/relationships/slideMaster" Target="/ppt/slideMasters/slideMaster1.xml" Id="R063be4aafd9d41dc" /><Relationship Type="http://schemas.openxmlformats.org/officeDocument/2006/relationships/notesMaster" Target="/ppt/notesMasters/notesMaster1.xml" Id="R628087236357454f" /><Relationship Type="http://schemas.openxmlformats.org/officeDocument/2006/relationships/presProps" Target="/ppt/presProps.xml" Id="Rb8fbba910c33481e" /><Relationship Type="http://schemas.openxmlformats.org/officeDocument/2006/relationships/tableStyles" Target="/ppt/tableStyles.xml" Id="R697bb9b3efd04305" /><Relationship Type="http://schemas.openxmlformats.org/officeDocument/2006/relationships/slide" Target="/ppt/slides/slide1.xml" Id="Ra4cda15980484916" /><Relationship Type="http://schemas.openxmlformats.org/officeDocument/2006/relationships/slide" Target="/ppt/slides/slide2.xml" Id="Ra58a538cfa2c4ade" /><Relationship Type="http://schemas.openxmlformats.org/officeDocument/2006/relationships/slide" Target="/ppt/slides/slide3.xml" Id="R622c465d0da44826" /><Relationship Type="http://schemas.openxmlformats.org/officeDocument/2006/relationships/slide" Target="/ppt/slides/slide4.xml" Id="Ra6605e17224a4eb6" /><Relationship Type="http://schemas.openxmlformats.org/officeDocument/2006/relationships/slide" Target="/ppt/slides/slide5.xml" Id="R365e23e8cf6842d1" /><Relationship Type="http://schemas.openxmlformats.org/officeDocument/2006/relationships/slide" Target="/ppt/slides/slide6.xml" Id="R17880d8bdcdf43b7" /><Relationship Type="http://schemas.openxmlformats.org/officeDocument/2006/relationships/slide" Target="/ppt/slides/slide7.xml" Id="Rce131210250e4347" /><Relationship Type="http://schemas.openxmlformats.org/officeDocument/2006/relationships/slide" Target="/ppt/slides/slide8.xml" Id="R0f3c1658a201424a" /><Relationship Type="http://schemas.openxmlformats.org/officeDocument/2006/relationships/slide" Target="/ppt/slides/slide9.xml" Id="Rafda4e9b265c4e28" /><Relationship Type="http://schemas.openxmlformats.org/officeDocument/2006/relationships/slide" Target="/ppt/slides/slide10.xml" Id="Rdbfd8822d8754b6c" /><Relationship Type="http://schemas.openxmlformats.org/officeDocument/2006/relationships/slide" Target="/ppt/slides/slide11.xml" Id="R94175bd6b7f94e85" /><Relationship Type="http://schemas.openxmlformats.org/officeDocument/2006/relationships/slide" Target="/ppt/slides/slide12.xml" Id="R53e4cb409b6f483e" /><Relationship Type="http://schemas.openxmlformats.org/officeDocument/2006/relationships/slide" Target="/ppt/slides/slide13.xml" Id="R2a16c59e18bc485b" /><Relationship Type="http://schemas.openxmlformats.org/officeDocument/2006/relationships/slide" Target="/ppt/slides/slide14.xml" Id="R43f1abd243c44a46" /><Relationship Type="http://schemas.openxmlformats.org/officeDocument/2006/relationships/slide" Target="/ppt/slides/slide15.xml" Id="Rdec230f0a4b74193" /><Relationship Type="http://schemas.openxmlformats.org/officeDocument/2006/relationships/slide" Target="/ppt/slides/slide16.xml" Id="Ra7e462cd283748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6458d147a440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d65dfd2b74857" /><Relationship Type="http://schemas.openxmlformats.org/officeDocument/2006/relationships/notesMaster" Target="/ppt/notesMasters/notesMaster1.xml" Id="Ra17f0504e0aa41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d19b6edbd2420d" /><Relationship Type="http://schemas.openxmlformats.org/officeDocument/2006/relationships/notesMaster" Target="/ppt/notesMasters/notesMaster1.xml" Id="R7f47aa25029641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fcbb3cdd1d416a" /><Relationship Type="http://schemas.openxmlformats.org/officeDocument/2006/relationships/notesMaster" Target="/ppt/notesMasters/notesMaster1.xml" Id="R0d7f88f1cd064b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34efb040d44faa" /><Relationship Type="http://schemas.openxmlformats.org/officeDocument/2006/relationships/notesMaster" Target="/ppt/notesMasters/notesMaster1.xml" Id="Ra53f7a892d764b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10668622194d7a" /><Relationship Type="http://schemas.openxmlformats.org/officeDocument/2006/relationships/notesMaster" Target="/ppt/notesMasters/notesMaster1.xml" Id="Rd26c8d0735d444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1332e6133d43b3" /><Relationship Type="http://schemas.openxmlformats.org/officeDocument/2006/relationships/notesMaster" Target="/ppt/notesMasters/notesMaster1.xml" Id="R8d58724f726f43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5bec0be8a346e2" /><Relationship Type="http://schemas.openxmlformats.org/officeDocument/2006/relationships/notesMaster" Target="/ppt/notesMasters/notesMaster1.xml" Id="R1f2a77433b5d45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8e25e7e0b5431a" /><Relationship Type="http://schemas.openxmlformats.org/officeDocument/2006/relationships/notesMaster" Target="/ppt/notesMasters/notesMaster1.xml" Id="R0bc1af8c0ca043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b29afae7bb4151" /><Relationship Type="http://schemas.openxmlformats.org/officeDocument/2006/relationships/notesMaster" Target="/ppt/notesMasters/notesMaster1.xml" Id="Re0bee615e9e74a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dfeb961f7148b3" /><Relationship Type="http://schemas.openxmlformats.org/officeDocument/2006/relationships/notesMaster" Target="/ppt/notesMasters/notesMaster1.xml" Id="Ref1ee0227b7744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ac9f2dd49a4de8" /><Relationship Type="http://schemas.openxmlformats.org/officeDocument/2006/relationships/notesMaster" Target="/ppt/notesMasters/notesMaster1.xml" Id="R5684d633d7fd47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bf80c167a4497f" /><Relationship Type="http://schemas.openxmlformats.org/officeDocument/2006/relationships/notesMaster" Target="/ppt/notesMasters/notesMaster1.xml" Id="Rf9c2fc5f08244a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289eabadea49ef" /><Relationship Type="http://schemas.openxmlformats.org/officeDocument/2006/relationships/notesMaster" Target="/ppt/notesMasters/notesMaster1.xml" Id="R586e6ee3cef04a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9373968d104cc9" /><Relationship Type="http://schemas.openxmlformats.org/officeDocument/2006/relationships/notesMaster" Target="/ppt/notesMasters/notesMaster1.xml" Id="Rebe859c0357941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8d82e0deee4b5e" /><Relationship Type="http://schemas.openxmlformats.org/officeDocument/2006/relationships/notesMaster" Target="/ppt/notesMasters/notesMaster1.xml" Id="R08f83b6d092a4e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07c573a7794438" /><Relationship Type="http://schemas.openxmlformats.org/officeDocument/2006/relationships/notesMaster" Target="/ppt/notesMasters/notesMaster1.xml" Id="Rd3e9face0d174e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作品集来源：知识罐罐 PRD v1.2、竞品分析和可交互原型 v1.2。姓名、经历与联系方式需要在个人信息页补充。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个人信息为作品集模板占位。投递前补充真实教育背景、实习/工作经历、项目成果和联系方式。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 结构用于面试口述，内容来自 PRD v1.2 的项目背景、目标、方案与指标。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数据来源：CNNIC 第56次报告、中国青年报调查；详细来源见 PRD v1.2 附录 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竞品结论来自 PRD v1.3 和独立竞品分析页面：平台收藏、视频总结、AI 知识库、自托管工具。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目标口径来自 PRD v1.2 的 2.2 成功指标和 2.3 本期范围。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调研使用规则来自 PRD v1.2 第1.5节：一手数据不足时只写状态和验证计划，不把二手调研当本产品结论。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策略依据来自 PRD 的定位、2.4 平台范围和 F2 内容解析通道设计。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架构与模块来自 PRD v1.2 第4.1节；架构图形用于面试展示，不追求视觉细度。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功能详情和验收标准见 PRD v1.2 第5、7节。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主链路和失败链路来自 PRD v1.2 第4.2节及 F2/F3 功能详述。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原型总览来自 work/prototype-shots/prototype-overview.png；交互原型 v1.2 仅保留抖音和小红书。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时间计划已从7月开始：原型测试7/1，研发7/8起，内部测试8/27，小范围内测9/3起。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所有数字均为 PRD 中的 MVP 目标和结果设想，未声称真实上线数据。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复盘结论用于面试表达：强调决策、取舍和下一步验证，不虚构真实成果。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回答面试题时建议用“来源—判断—处理—验证”四步，并举一个具体需求从原话到上线的例子。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b2c416e4949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7311bc5ad54c2b" /><Relationship Type="http://schemas.openxmlformats.org/officeDocument/2006/relationships/slideLayout" Target="/ppt/slideLayouts/slideLayout1.xml" Id="Rd355ab97d8bd49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5ab97d8bd49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f780120ec4f82" /><Relationship Type="http://schemas.openxmlformats.org/officeDocument/2006/relationships/image" Target="/ppt/media/image.png" Id="Ra64f219567444be0" /><Relationship Type="http://schemas.openxmlformats.org/officeDocument/2006/relationships/notesSlide" Target="/ppt/notesSlides/notesSlide1.xml" Id="R92b4e43c2a884a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def0e2209432d" /><Relationship Type="http://schemas.openxmlformats.org/officeDocument/2006/relationships/notesSlide" Target="/ppt/notesSlides/notesSlide2.xml" Id="Refa35818150645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5ea8d2bd547f0" /><Relationship Type="http://schemas.openxmlformats.org/officeDocument/2006/relationships/notesSlide" Target="/ppt/notesSlides/notesSlide3.xml" Id="R5bbfa52c93cd4f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e7f591e16430e" /><Relationship Type="http://schemas.openxmlformats.org/officeDocument/2006/relationships/notesSlide" Target="/ppt/notesSlides/notesSlide4.xml" Id="R1b37803e486441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82d09654f4157" /><Relationship Type="http://schemas.openxmlformats.org/officeDocument/2006/relationships/notesSlide" Target="/ppt/notesSlides/notesSlide5.xml" Id="R0f7e113343fb4d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2811a11d84b53" /><Relationship Type="http://schemas.openxmlformats.org/officeDocument/2006/relationships/notesSlide" Target="/ppt/notesSlides/notesSlide6.xml" Id="R2168f519449540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f6209cb6d43a2" /><Relationship Type="http://schemas.openxmlformats.org/officeDocument/2006/relationships/notesSlide" Target="/ppt/notesSlides/notesSlide7.xml" Id="Rb608d09d9e1e41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0707c68944004" /><Relationship Type="http://schemas.openxmlformats.org/officeDocument/2006/relationships/notesSlide" Target="/ppt/notesSlides/notesSlide8.xml" Id="Rae2e26fc6d4344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1228333f8446f" /><Relationship Type="http://schemas.openxmlformats.org/officeDocument/2006/relationships/notesSlide" Target="/ppt/notesSlides/notesSlide9.xml" Id="Rfc9692f69aeb45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2ad35c0914ac6" /><Relationship Type="http://schemas.openxmlformats.org/officeDocument/2006/relationships/notesSlide" Target="/ppt/notesSlides/notesSlide10.xml" Id="Rd4ce9b938ef047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c9198daec4a10" /><Relationship Type="http://schemas.openxmlformats.org/officeDocument/2006/relationships/notesSlide" Target="/ppt/notesSlides/notesSlide11.xml" Id="Re4c84dd1681842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0abf4915b41b1" /><Relationship Type="http://schemas.openxmlformats.org/officeDocument/2006/relationships/image" Target="/ppt/media/image2.png" Id="Ra03e90991133489d" /><Relationship Type="http://schemas.openxmlformats.org/officeDocument/2006/relationships/notesSlide" Target="/ppt/notesSlides/notesSlide12.xml" Id="R8c691abada6a47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c5b1f054b4950" /><Relationship Type="http://schemas.openxmlformats.org/officeDocument/2006/relationships/notesSlide" Target="/ppt/notesSlides/notesSlide13.xml" Id="R02ed9bd69a4f42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eb71e5e904d93" /><Relationship Type="http://schemas.openxmlformats.org/officeDocument/2006/relationships/chart" Target="/ppt/slides/charts/chart1.xml" Id="Rebc4eaff81144787" /><Relationship Type="http://schemas.openxmlformats.org/officeDocument/2006/relationships/notesSlide" Target="/ppt/notesSlides/notesSlide14.xml" Id="R7eee2da5c22840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4bd766b414670" /><Relationship Type="http://schemas.openxmlformats.org/officeDocument/2006/relationships/notesSlide" Target="/ppt/notesSlides/notesSlide15.xml" Id="R3cc293623bb244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4b8571af645b6" /><Relationship Type="http://schemas.openxmlformats.org/officeDocument/2006/relationships/notesSlide" Target="/ppt/notesSlides/notesSlide16.xml" Id="R36227000cb5947e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目标值</c:v>
          </c:tx>
          <c:spPr>
            <a:solidFill xmlns:a="http://schemas.openxmlformats.org/drawingml/2006/main">
              <a:srgbClr val="4F6F52"/>
            </a:solidFill>
          </c:spPr>
          <c:cat>
            <c:strRef>
              <c:f>'Chart Data'!$A$2:$A$4</c:f>
              <c:strCache>
                <c:ptCount val="3"/>
                <c:pt idx="0">
                  <c:v>解析成功</c:v>
                </c:pt>
                <c:pt idx="1">
                  <c:v>7 日回访</c:v>
                </c:pt>
                <c:pt idx="2">
                  <c:v>周消化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4A3B2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DF6"/>
        </a:solidFill>
      </c:spPr>
    </c:plotArea>
    <c:plotVisOnly val="1"/>
  </c:chart>
  <c:spPr>
    <a:solidFill xmlns:a="http://schemas.openxmlformats.org/drawingml/2006/main">
      <a:srgbClr val="FFFDF6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E62CF-3A80-4916-826D-E6F85D99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产品经理作品集 ·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8B2D7-735C-4B3B-AD52-B8F33D5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知识罐罐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C4DD8-18E3-4104-BC82-9AF0AC56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从“收藏吃灰”到“知识消化”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B3A13-40CA-458D-A364-A2761706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9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34896-3207-4204-9807-60E08200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项目背景 · 问题定义 · 产品架构 · 功能设计 · 用户流程 · 原型 · 预期结果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2DC51-4F1D-4AE2-A636-8CCDCCED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000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EC634-12E9-4004-AC3E-FCA5DC92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求职方向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产品经理 · C 端 / AI 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F79C3D-2A28-4C26-A037-069666A5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候选人：王雪飞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CC916-1EBD-4230-9243-5ADF2629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81050"/>
            <a:ext cx="4305300" cy="529590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4288">
            <a:solidFill>
              <a:srgbClr val="D8C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f219567444be0"/>
          <a:stretch xmlns:a="http://schemas.openxmlformats.org/drawingml/2006/main"/>
        </p:blipFill>
        <p:spPr>
          <a:xfrm xmlns:a="http://schemas.openxmlformats.org/drawingml/2006/main">
            <a:off x="7296150" y="2008938"/>
            <a:ext cx="3848100" cy="2840123"/>
          </a:xfrm>
          <a:prstGeom xmlns:a="http://schemas.openxmlformats.org/drawingml/2006/main" prst="roundRect">
            <a:avLst>
              <a:gd name="adj" fmla="val 3960"/>
            </a:avLst>
          </a:prstGeom>
        </p:spPr>
      </p:pic>
    </p:spTree>
    <p:extLst>
      <p:ext uri="{BB962C8B-B14F-4D97-AF65-F5344CB8AC3E}">
        <p14:creationId xmlns:p14="http://schemas.microsoft.com/office/powerpoint/2010/main" val="1575414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3952D-4139-40C1-A90F-1718D050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00 / 关于我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6A6FC-5D16-4AB5-9DBC-BFEB5CB5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82060-0356-420F-9F45-C0032E33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03A02-3FFE-4AC4-BD1F-29125F91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一页讲清楚我与产品经理岗位的匹配度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A531E-E318-4C90-80BB-EFD02009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个人简介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E01A7-F2BD-4EAF-A7A3-B370AC9A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3143250" cy="34290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A7A2E-562A-471B-9097-7FE41AC7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王雪飞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79B84-B2CC-433E-928B-0F61D85A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产品经理候选人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求职方向：C 端 / AI 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C8B5D-ED3A-4935-B2A1-55D67534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rPr>
              <a:t>教育背景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rPr>
              <a:t>工作经历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rPr>
              <a:t>联系方式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29786-0154-424E-A086-F0953E7E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rPr>
              <a:t>（请在投递前补充真实信息）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65E87-C393-4CE4-9BF0-D9FCB8CF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核心能力标签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BD796-29EF-43B9-B8E9-DD017BEA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1219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需求分析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54BF9A-8433-41D6-9BC1-21B555E3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1219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用户研究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B0222-BD9C-4134-AA81-3A51C270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1219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9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8A65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A6517"/>
                </a:solidFill>
                <a:latin typeface="Helvetica Neue"/>
                <a:ea typeface="Helvetica Neue"/>
                <a:cs typeface="Helvetica Neue"/>
              </a:rPr>
              <a:t>竞品分析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DF145-965F-4642-AAB2-0DDF153B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1676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PRD / 验收标准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B22DC-F404-4222-ACB5-C017D032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219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原型设计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A1E26-3EF2-4585-A1C0-F0AA681A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我如何工作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C49E5-ECE6-4124-B267-A1B2A63A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70104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6B2E0-60B9-48B9-B3DB-169F2C47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81450"/>
            <a:ext cx="6429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先定义用户问题，而不是先列功能。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用场景、状态机和替代方案判断需求真伪。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把结论写成可验收的标准，推动产品、设计和研发对齐。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5C9D3-4D94-4D4B-8823-2741EF45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43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我希望面试官记住的三件事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C885C-A2DA-4609-AF68-3FF4A58E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86400"/>
            <a:ext cx="701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1. 能从模糊问题中找到可落地的产品切口。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2. 会把复杂链路拆成清晰状态和兜底路径。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3. 关注结果指标，也关注验证过程是否可信。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E5641-AEEA-4DD9-B337-15A17D25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2000945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B9303-97A0-4F74-A471-44E9224A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01 / 项目地图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ECC87-01B6-4D08-85F9-065318FF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62EF8-75BC-4B58-8EE5-D6DFBCAA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FF317-238C-40A6-A2DC-BF1E3B02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总览先给结论，正文再展开过程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ED29D-88F7-4543-828C-A314B38F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项目总览：用 STAR 讲清楚闭环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C2D87-471D-4D91-B39F-58DB9CE9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2514600" cy="2324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FCE2C-FF5F-4291-8569-07508FDC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B"/>
          </a:solidFill>
          <a:ln xmlns:a="http://schemas.openxmlformats.org/drawingml/2006/main" w="0">
            <a:solidFill>
              <a:srgbClr val="E6B94B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8E74F-25FE-4D7E-B0FA-D64EFD0E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09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0E6A7-1B94-45FB-96E7-A43DA437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短视频内容大量被收藏，但收藏后缺少理解和回访。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A51E4-8848-4BDA-852F-CC3067C3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2514600" cy="2324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5DEFB-C990-43D0-B511-AA4E3F6B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4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8A2B6-7878-4276-BB78-7ADD8B41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09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271F6-E929-4629-B22B-7A36C146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负责 0→1 产品定义、需求拆解、PRD 与原型验证。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0F68F-1874-41AC-A2A4-D448D270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2514600" cy="2324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A67FC-A0CA-4E1D-8F60-08A3E45D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C4A"/>
          </a:solidFill>
          <a:ln xmlns:a="http://schemas.openxmlformats.org/drawingml/2006/main" w="0">
            <a:solidFill>
              <a:srgbClr val="C85C4A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A079A-9A51-4644-B751-44EE9E42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行动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8F7BA-232F-4B57-BD2C-D48E5EF3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385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调研、竞品拆解、架构设计、流程与原型落位。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D6E9D-C59C-4F7D-A742-A24EC76D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2514600" cy="23241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39C92-A335-4987-B1B3-771E9A02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F8ECC-405D-42B0-B5C5-EFD3D3CF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09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B57664-B45E-48EA-9FE2-BC7ED0A2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用内测目标验证投递、理解、回访与消化闭环。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FD462-901F-4A9A-8029-D0B211B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面试讲解顺序：先给结论 → 再讲问题怎么被定义 → 最后讲方案如何被验证。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A7810-B532-4BD3-9BE2-588DA1B5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1304664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F7DB8-82AA-4143-BAC9-8FDB9EDE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02 / 项目背景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9D26B-57A6-4AD1-8038-CE13E496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5A32E-CE45-4BB1-87BC-3E9EE174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1086C-8967-4EC3-916C-E46C9EE9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用户不是缺“收藏按钮”，而是缺收藏后的处理路径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EE6A9-B128-430A-A080-A028C677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项目背景：收藏行为已经存在，消化环节缺失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161A7-2BE2-4788-B3BA-DF65B6A9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23812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C94A3-3466-4A5E-A7B4-80A6A646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短视频规模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E18B4-6335-40CF-8187-D1BA32D7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10.74 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3C93D-A2F3-413F-997E-1DDD9FCE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用户规模；95.4% 使用率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5B6EB-D651-4017-9F26-A2DE78FD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24100"/>
            <a:ext cx="23812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C4CED-0EA0-4728-BFBB-C2B993ED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9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收藏吃灰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1E030-96E6-4F18-B268-F9FE4D35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813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88.3%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34EA0-AF9C-4EA5-AD92-3A884BAD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受访者认为电子收藏夹“吃灰”普遍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1DAC8-7B21-4F1B-A4BD-33772AA5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24100"/>
            <a:ext cx="23812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EBD1A-F7C2-4FF4-B943-7C7A7331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9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E6B9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B94B"/>
                </a:solidFill>
                <a:latin typeface="Helvetica Neue"/>
                <a:ea typeface="Helvetica Neue"/>
                <a:cs typeface="Helvetica Neue"/>
              </a:rPr>
              <a:t>经常整理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BECB5-9A30-4D57-950A-840FCA8D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28.3%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0BFE7-92D4-4A5F-9BD2-D81887A5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66.5% 偶尔使用，5.2% 从未再看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1EEFF-D50A-407F-B3DE-AE023BC7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0099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BCEED-1FA6-46C3-A760-2E337FA7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955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核心矛盾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C2D95-19D1-41FC-80AB-71923D44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存得多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28B35-FC10-4329-A4B0-C3B417A6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看得少、找不回、难判断价值，最终无法转成行动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80276-0831-4BC9-8F21-9F1743A1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用户已经形成收藏习惯，产品不需要重新教育“保存”，需要承接保存后的动作。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4C408-F97A-41E6-940D-9DEF5950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19621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8D8"/>
          </a:solidFill>
          <a:ln xmlns:a="http://schemas.openxmlformats.org/drawingml/2006/main" w="0">
            <a:solidFill>
              <a:srgbClr val="DDE8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395C8-8CCC-4003-A6E5-345ADDC6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48200"/>
            <a:ext cx="156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机会点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收藏后的理解与消化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5DE41-F772-4D0E-9890-89BF94BF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6310943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74802-4E97-423F-8C79-BF9F7A8D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03 / 问题定义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AC5DB-B286-47E3-919B-75961501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9FBE1-5E3D-4BF4-A026-54ED2BDF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35998-2803-4D75-9337-24595DB7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从“平台收藏 / 单条总结 / 通用知识库”三类替代方案中找切口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67564-F3D0-4BAD-9EF6-69283782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问题定义：现有方案各自解决了一段，但没有连起来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9842E-201B-4834-9BCA-5067B609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3909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9A5CC-0D7D-48DD-A7DE-4A50349C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E6B9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6B94B"/>
                </a:solidFill>
                <a:latin typeface="Helvetica Neue"/>
                <a:ea typeface="Helvetica Neue"/>
                <a:cs typeface="Helvetica Neue"/>
              </a:rPr>
              <a:t>平台收藏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BA1FC-C5A0-4BEB-BEB7-E5BD84CC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能存，不能跨平台理解和搜索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CDC14-3031-44CF-9C4C-6BF9A3B4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33909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44240-5B2A-4240-98BB-78FCCC0D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视频总结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3404D-2833-486C-8E00-BDF38227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能处理单条，缺少长期收藏与回访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B336A-E288-49A2-886C-CB55991F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3390900" cy="17716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2FDA9-773E-463B-9D94-472EC100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通用知识库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1D091-1037-4E79-A186-C2B03559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能管理文档，短视频分享投递不深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15D50-7732-4ED4-833B-8270B2CF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066800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917B5-C31B-4FE6-89F6-36CE85C7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被忽略的环节：收藏之后，如何快速理解、可信回溯并完成消化。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23323-20BD-4969-9F4E-260CDB0B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1277321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CFCE99-AE9B-4331-BD9B-74C99AC6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04 / 我的任务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91C08-1EC7-4753-B8A4-BF3F9E75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1BACA-A8E8-4C4F-BC32-206E0A85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F9979-FBD1-48B3-A351-827CF93F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我负责0→1产品定义、需求拆解、PRD、原型与指标设计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FE71C-5D77-4111-B5E8-7212705A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任务与目标：把“收藏后”做成可验证闭环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EE201-3153-42B2-A607-5B17F75E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38500" cy="31242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DAB2C-F58B-4C7A-9DBF-FECDACB1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我的角色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CA3B5-A4AD-4298-8250-9F8B108C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产品经理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0→1 产品定义与落地推动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CB48F-FCD4-49BC-BF57-7AD7C4FB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rPr>
              <a:t>负责：需求分析 / 竞品分析 / 产品架构 / 功能拆解 / PRD / 原型 / 指标体系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72714-F0AC-416E-AFE5-5A4B205F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产品目标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CF47C-B96F-4E15-941A-535853B1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622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让用户把“刷到并收藏”的内容，转化为可以找、可以问、可以消化的个人知识。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7479A-564D-4B78-B761-93F93E8C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33800"/>
            <a:ext cx="3143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3D3C6-4ADE-495D-8F96-8F06D6C9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解析成功率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7209F-22D3-4C44-8B0B-B9F63C99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862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≥ 80%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590AC-D9F2-4A15-B226-5D72C10B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00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低于 70% 不扩大内测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7B475-52CD-4337-BF8C-3F7FA97C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3143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D7E51-8887-4426-A22C-BB0B3624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576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7 日回访率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DB6BB-CA2C-463E-8829-C8B3AC64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862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≥ 40%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D2929B-4E86-4866-AA2B-2E6420EE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005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低于 30% 说明闭环未成立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4218F-35FB-4A1A-81F1-77943B3C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05350"/>
            <a:ext cx="3143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646FB-3A4D-486B-B882-6FF7C8B3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291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周消化率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21385-612B-4EF0-9895-97B23AED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577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≥ 20%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24465-2A29-4EC4-B800-64753671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72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北极星指标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2054E1-8A20-4E91-94EA-D3F78418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143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0A782-6B71-4FBC-A2A2-8E6CEFF0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291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摘要有用度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22452-FA1B-455E-A491-9DAD3715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577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≥ 4.0/5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F7B383-DA44-43E8-AEAC-6A731027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720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用户主观评分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A96990-4738-4B49-9EC8-54C3437D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MVP 范围：iOS / Android App；优先抖音与小红书。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79C717-8F1A-4290-BF9A-0F5D704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402906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48D91-0EF5-45A7-95AB-375E4E83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05 / 行动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E3EA8-4C0B-4BCE-A733-DC5AB500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1280C-B859-4C0B-8D01-929F7C43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E4D78-4200-4504-B406-EB036827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公开数据用于判断问题存在，一手研究用于判断用户是否真的愿意改变行为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65AEE-F816-4950-98C0-6EE6A506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调研与竞品：先验证问题，再决定方案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E9FA4-B180-4599-B519-0B634E82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我如何验证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52554-762F-4D8F-AC16-C6469A01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143250" cy="29146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4DE84-D49C-4B27-A724-3CF3F383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6479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公开数据：说明市场与问题存在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用户访谈：目标 8–12 人，验证动机和替代方案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问卷正式回收：目标 ≥100 份，验证需求分布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原型测试：目标 5–8 人，验证投递、卡片和回访意愿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B8423-C62D-4353-9582-43927C43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24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竞品对比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076700" y="2724150"/>
          <a:ext xmlns:a="http://schemas.openxmlformats.org/drawingml/2006/main" cx="7124700" cy="28956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714500"/>
                <a:gridCol w="2857500"/>
                <a:gridCol w="2552700"/>
              </a:tblGrid>
              <a:tr h="5791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类型</a:t>
                      </a:r>
                    </a:p>
                  </a:txBody>
                  <a:tcPr marL="91440" marR="91440" marT="45720" marB="45720">
                    <a:solidFill>
                      <a:srgbClr val="4F6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代表</a:t>
                      </a:r>
                    </a:p>
                  </a:txBody>
                  <a:tcPr marL="91440" marR="91440" marT="45720" marB="45720">
                    <a:solidFill>
                      <a:srgbClr val="4F6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主要缺口</a:t>
                      </a:r>
                    </a:p>
                  </a:txBody>
                  <a:tcPr marL="91440" marR="91440" marT="45720" marB="45720">
                    <a:solidFill>
                      <a:srgbClr val="4F6F52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平台收藏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抖音 / 小红书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跨平台弱、搜索弱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视频总结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BiliNote / BibiGPT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长期管理弱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通用知识库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ima / Cubox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短视频投递不深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自托管工具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Karakeep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部署与中文短视频门槛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AA51D-9954-49E8-88C4-06C4DCB4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结论：不与通用知识库比文档管理；把“中文短视频分享后处理”做深。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2FCF5-F888-41FC-9CE9-29ACA801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2414867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530103-5FF3-436F-A65B-4160D311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06 / 行动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69CDD-F799-4222-87B0-4CCB01B5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6A840-F8A5-46B0-9A8E-A26D931E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816F1-360D-444F-A42B-0D391F1A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功能围绕四个动作展开：投递、理解、找回、消化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D214E-2A49-4F9D-A954-19AEE38D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机会判断：把产品定义为一套“收藏后处理系统”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C3503-D076-4BA4-87BE-B73B9BBE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0668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98C15-229C-4EAF-91CE-94EECCB4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2A5B1-A465-438F-8944-D356D7E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分享优先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68A1A-BA75-4B11-B73B-9E59F981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76500"/>
            <a:ext cx="803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降低投递摩擦，用户不需要跳出原平台。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E1E1A-7488-43EE-A57D-083D3156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10668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DE8D8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490AA-EC42-4AD0-A0FA-66258D10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53DDC-E4A5-4616-966D-B44F09CE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语音优先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5F525-11A5-4300-A1DD-4033BE5E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803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有可靠语音先转写；无语音再按场景做 OCR。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AD8F4-C971-4B30-B4EB-CE917F7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10668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A791E-3929-4FE4-9A47-FF7711A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4758B-A00D-4389-BF79-D91C8EC3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卡片而非全文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8B7BA-6355-4736-BB9A-7E4B3319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62400"/>
            <a:ext cx="803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先给结论、步骤和前提，再让用户回原文验证。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DAE1C-AFFB-4FA0-AF3F-660E8FB3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0668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DE8D8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F282E-9552-4FFC-9EAD-DAC15E30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F3FB2-1ABB-465B-9DA8-3A308AA0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来源可回溯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069F8-5891-43FA-B9F2-4DD458D1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05350"/>
            <a:ext cx="803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结论必须能回到原文、时间戳、图片或转写。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4B6D2-D2A2-4EE7-BB14-9D474EA5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10668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C704E-91E0-40C2-9F02-99F868F9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38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D8A35-072D-4FA0-B920-4B71713C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消化可见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28AEB-B910-417D-9BFD-2C199F05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48300"/>
            <a:ext cx="803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把“已消化”做成状态，而不是靠用户记忆。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1BEA1D-9BAD-414B-AD72-C0530C00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定位一句话：知识罐罐不是另一个收藏夹，而是把收藏转成可理解、可检索、可继续行动的知识。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24F0A-509F-423D-9011-B7CDB33D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1243878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167706-B19D-4ADE-A4DF-4392460F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07 / 行动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F6A1B-E755-465B-BD49-14E7B8B9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EFBA0-6C7E-43CD-9147-F3541D4C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0788F-03F2-45ED-8A0B-3DDCF139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分享入口承接投递，知识库承接沉淀，问一问承接二次使用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A54E3-AEBC-4A0B-B2D7-2DC75FFB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产品架构：一条主链路，四个核心模块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688D4-35DF-4AB1-8D39-F3EA1FBB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8097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B94B"/>
          </a:solidFill>
          <a:ln xmlns:a="http://schemas.openxmlformats.org/drawingml/2006/main" w="0">
            <a:solidFill>
              <a:srgbClr val="E6B94B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分享 / 粘贴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D48D9-E39E-4405-9C91-7B6BC55D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07082-10C6-4430-8CD8-1135B2BA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33650"/>
            <a:ext cx="18097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收件箱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836FD-591D-4034-AF1F-30CC6173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E774F-6575-428F-AE29-F204AC3B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18097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5C4A"/>
          </a:solidFill>
          <a:ln xmlns:a="http://schemas.openxmlformats.org/drawingml/2006/main" w="0">
            <a:solidFill>
              <a:srgbClr val="C85C4A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解析与生成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3D121-5BAC-427B-A865-2D5DFA3B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098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EBB60-E0AD-47A9-AC3A-0939F35B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33650"/>
            <a:ext cx="18097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知识库 / 问一问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E1E67-AE19-4EB0-AA5E-DB2A7E96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CE44F-7675-437C-9324-30910E8C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18097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B94B"/>
          </a:solidFill>
          <a:ln xmlns:a="http://schemas.openxmlformats.org/drawingml/2006/main" w="0">
            <a:solidFill>
              <a:srgbClr val="E6B94B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消化数据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823D3-6EBF-4084-937C-9F8CDD5E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2457450" cy="1828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B0434-5FD8-4879-A4BB-E8696B82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收件箱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A90C8-5CD7-46D3-ABFA-10AB9760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00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快速投递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处理中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失败与重试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最近知识卡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38EA7-65AE-4595-A4D1-278449E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52850"/>
            <a:ext cx="2457450" cy="1828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84E85-B3D8-4F9C-B3E6-8161E6E3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62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知识库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6B9E1-8298-47FE-BCDC-09E12703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200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全部内容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文件夹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标签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搜索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98DAD-7E45-4331-A2B8-85D4D060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52850"/>
            <a:ext cx="2457450" cy="1828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F63E81-AF15-415C-8BD6-4CBB6048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问一问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BB902-E01B-4472-BBB2-DC9C3181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200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跨库提问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引用来源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相关问题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4F8E2-FC36-4C48-94E3-64A9A2C4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2457450" cy="1828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5C0C1-A2F9-4876-9B51-2FB9A387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我的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ACCC37-FA4E-45E4-968B-45E5464D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2450"/>
            <a:ext cx="200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消化率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提醒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隐私与数据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6C5E7D-64C8-428E-B68C-C63B1145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架构原则：先保证记录不丢，再优化解析质量；先完成理解，再扩展知识管理能力。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FFDFB-6C5E-4D87-B5FB-91332C23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8819855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7A12A-6C7F-4E84-AB24-C4FA1EDF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08 / 行动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62405-F466-4F05-B7FB-96BD709A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E40D0-20BD-4859-AF8D-BDEA46FE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D8D81-5678-40A5-BEFC-68AACD47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从投递到消化，功能围绕任务完成而不是功能清单展开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BD20C-777F-4256-9611-20072A39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核心功能点：每个功能都对应用户问题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2362200"/>
          <a:ext xmlns:a="http://schemas.openxmlformats.org/drawingml/2006/main" cx="10668000" cy="3619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4000500"/>
                <a:gridCol w="5238750"/>
              </a:tblGrid>
              <a:tr h="4524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功能</a:t>
                      </a:r>
                    </a:p>
                  </a:txBody>
                  <a:tcPr marL="91440" marR="91440" marT="45720" marB="45720">
                    <a:solidFill>
                      <a:srgbClr val="4F6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用户价值</a:t>
                      </a:r>
                    </a:p>
                  </a:txBody>
                  <a:tcPr marL="91440" marR="91440" marT="45720" marB="45720">
                    <a:solidFill>
                      <a:srgbClr val="4F6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验收要点</a:t>
                      </a:r>
                    </a:p>
                  </a:txBody>
                  <a:tcPr marL="91440" marR="91440" marT="45720" marB="45720">
                    <a:solidFill>
                      <a:srgbClr val="4F6F5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 分享投递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不跳出原平台，快速收下内容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秒内反馈，操作 ≤ 2 步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F2 内容解析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语音、画面、图文都能被理解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解析成功率 ≥ 80%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F3 失败兜底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解析失败也能继续完成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重试/补文案/稍后处理/删除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F4 知识卡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先看结论、步骤和前提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 秒内判断价值，可回溯来源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F5 知识库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收藏能整理、搜索和批量处理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不强制分类，删除可回收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F6 搜索问答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记得大概也能找回并继续提问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回答展示引用，可回到原文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F7 消化数据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知道自己收藏了什么、处理了多少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状态可统计，提醒可关闭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9FB40-488C-41D4-B9C6-9E7DFB18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16948992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FFB699-A775-4CE5-9572-DCB328E1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09 / 行动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79939-49D7-48DE-B7A1-21362593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A26C1-A086-4D68-AB67-2556496F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6E722-4D6D-4B72-8D48-2011984C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用户只关心“内容有没有被收下、有没有变成我能用的知识”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A70C2-B4AC-4F89-BB5E-7F2054F9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用户流程：主链路要短，失败链路要可见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6721B-F041-4FE7-A484-D87DE3B3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主链路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1089C-F2A1-48BF-BBFC-157A752C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14668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6B94B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分享内容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2F311-41E5-49BB-8BF4-09A775F1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38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182AE-684C-42E7-BEBD-670A4C36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14668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收件箱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055AC-189F-4E5B-8B1D-BFF9881F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EE1E8-098B-40EB-8251-0344C3D1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24150"/>
            <a:ext cx="14668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自动解析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1F0DA-99F8-488C-8C78-E9E55DA8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38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93317-4683-414E-B656-C70BC66E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24150"/>
            <a:ext cx="14668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知识卡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F01BD-EC19-40B4-A3C4-EE884B3C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DCB7A0-9671-46FC-B760-2FD774F1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24150"/>
            <a:ext cx="14668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F6F52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标记消化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AE53F-9334-4B73-BBB8-5CD66A5E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8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89B8C-2C7E-4CB7-A7E2-0ECBF859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4668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搜索 / 问答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E6A28-F04E-4952-AE92-7D25248C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失败 / 部分成功链路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7CB6B-B17F-4270-9745-08700CFA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9812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2D4CC"/>
          </a:solidFill>
          <a:ln xmlns:a="http://schemas.openxmlformats.org/drawingml/2006/main" w="11430">
            <a:solidFill>
              <a:srgbClr val="C85C4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解析失败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93FE14-9521-4205-913A-A35ECE46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10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17AD3-DC35-48AA-B289-0E851889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95800"/>
            <a:ext cx="19812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D8C7AE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重试 / 补文案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51D98-10B5-4C92-9DEF-7B7F5285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10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BE375-FD69-42A3-8173-FEDB1621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95800"/>
            <a:ext cx="19812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D8C7AE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继续生成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B7838-78DC-4F0B-9745-F3C2A606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01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3FB1B4-31A3-4EAA-B447-AA3D0CA7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95800"/>
            <a:ext cx="19812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D8C7AE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知识卡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33884-404D-44BB-BAF9-970045A5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95750"/>
            <a:ext cx="552450" cy="106680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DE8D8"/>
          </a:solidFill>
          <a:ln xmlns:a="http://schemas.openxmlformats.org/drawingml/2006/main" w="0">
            <a:solidFill>
              <a:srgbClr val="DDE8D8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不丢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D875E9-C4FA-47CA-B752-E5AC2A93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关键设计：状态透明、可重试、可补文案；任何失败都不能让整条记录消失。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291F21-97A4-4354-9FCF-B9C235EB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13427740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4F1D9-87CD-4A34-9509-672E7E19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10 / 行动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7133C-E901-413E-842D-861FD993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39C1D-17F9-44BA-91D6-788AB6E5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B86DF-A38C-461C-AA02-5DA011DD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原型只保留抖音和小红书，重点验证投递、知识卡和知识库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10C86-4B3A-40ED-AC46-6AD42E0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原型：验证信息层级与关键路径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56D27-7A19-4612-BCD4-46292C7F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7600950" cy="3676650"/>
          </a:xfrm>
          <a:prstGeom xmlns:a="http://schemas.openxmlformats.org/drawingml/2006/main" prst="roundRect">
            <a:avLst>
              <a:gd name="adj" fmla="val 621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11430">
            <a:solidFill>
              <a:srgbClr val="D8C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e90991133489d"/>
          <a:stretch xmlns:a="http://schemas.openxmlformats.org/drawingml/2006/main"/>
        </p:blipFill>
        <p:spPr>
          <a:xfrm xmlns:a="http://schemas.openxmlformats.org/drawingml/2006/main">
            <a:off x="2114132" y="2457450"/>
            <a:ext cx="4439485" cy="327660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B01BF-3CE9-4927-B16C-82634C03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P02 收件箱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07936-1AC6-4772-AC1C-8F4D7EE5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投递反馈、处理中状态、失败重试。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FD716-C72D-4905-A323-7E336812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P06 知识卡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1DF75-8F0D-482E-AB7A-9E421557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结论、高光点、来源回溯和消化操作。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D8AE3-1D71-4281-9FCF-1833C156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P08 知识库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4F874-D5F4-4083-8CE3-54798D4E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244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文件夹、标签、搜索和批量消化。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53E0D-5FA4-44C7-9A06-6DD5B4D0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原型视觉不是重点；重点是验证用户是否能理解状态、找到来源、完成任务。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9801E-0CD6-4514-BEF9-BFA9444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8624655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CC9E3-18A0-4629-9A01-3CDF7E81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11 / 行动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864F3-74BD-4505-8E96-7A586E1E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878C3-4065-43A1-965F-5D592B07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BB279-ABF0-4281-9F92-9C1A9E46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先用小样本验证理解和行为，再决定是否扩大范围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71A0A-EFE0-4571-9B8A-44119E26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验证计划：从原型测试到小范围内测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12243-AEF8-4A24-B1D3-DD70947D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0458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7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C1017-B25E-4BFA-8B59-649C7D9D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94B"/>
          </a:solidFill>
          <a:ln xmlns:a="http://schemas.openxmlformats.org/drawingml/2006/main" w="0">
            <a:solidFill>
              <a:srgbClr val="E6B94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83D9F-7A08-41B2-880F-3DDC45A1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E6B9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6B94B"/>
                </a:solidFill>
                <a:latin typeface="Helvetica Neue"/>
                <a:ea typeface="Helvetica Neue"/>
                <a:cs typeface="Helvetica Neue"/>
              </a:rPr>
              <a:t>7/1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D5F2A-8600-47CA-8D48-452A1EC3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1719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原型测试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E77A9-925C-4013-A0CF-335F1E63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1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D291D-1BE4-4B09-B0C7-0DA0FD21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481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7/8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4597A-00F8-475D-8E69-EB85FB71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1719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分享与投递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EA9C0-600F-4F44-8F39-AE709CAB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71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E896B-BA1E-43EE-9970-952A1125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481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7/20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82E6F-CD82-443A-A10E-E374374D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719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解析与兜底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B05528-6938-4437-8B52-D10E8CA8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53349-2047-4409-95D0-A04E5372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8/3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B25DE-1313-48E3-8C21-76823730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知识卡与知识库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63B33-8885-4BE1-9AF9-84FE22AD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1066D-CF04-4903-BCF5-55CFA368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8/17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6E754-EC70-462D-9838-3C7FF5C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搜索问答与埋点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71733-2BB1-4F5C-B505-798BF730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71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C4A"/>
          </a:solidFill>
          <a:ln xmlns:a="http://schemas.openxmlformats.org/drawingml/2006/main" w="0">
            <a:solidFill>
              <a:srgbClr val="C85C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B672F-B0D8-4074-8AFC-DA05FD6B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8/27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B7A917-143E-4915-AE62-00E90973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719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内部测试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4AA9A-A99B-4E95-B6B2-3E5CA96A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71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C4A"/>
          </a:solidFill>
          <a:ln xmlns:a="http://schemas.openxmlformats.org/drawingml/2006/main" w="0">
            <a:solidFill>
              <a:srgbClr val="C85C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E800FD-B030-45AD-8AE4-40D5AF59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8481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9/3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16F519-0B26-4A7D-8DC0-A3FA009D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719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小范围内测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D18672-949E-4C93-A499-C1B1FBB8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当前 PRD 后续优化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361E09-F3E0-4DB3-AAA4-48D24EF1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继续验证批量导入、分类导出到 Notion、平台扩展和更细的消化统计。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6C989F-FBAC-4261-960E-A94DF5BB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20327276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91386-36B4-47DB-9230-AF8E27C0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12 / 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53E2A-9DA4-4C34-ADB1-1A8F2648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82020-CC03-4D9E-A582-43C94B62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2921C-AAAD-4EF0-A4FF-1C780B74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以下是目标与结果设想，不是已上线真实数据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75BA8-AD08-49AF-8109-71DD13D4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预期结果：用内测目标验证闭环是否成立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33400" y="2381250"/>
          <a:ext xmlns:a="http://schemas.openxmlformats.org/drawingml/2006/main" cx="6286500" cy="30099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1524000"/>
                <a:gridCol w="2762250"/>
              </a:tblGrid>
              <a:tr h="501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4F6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MVP 目标</a:t>
                      </a:r>
                    </a:p>
                  </a:txBody>
                  <a:tcPr marL="91440" marR="91440" marT="45720" marB="45720">
                    <a:solidFill>
                      <a:srgbClr val="4F6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判断</a:t>
                      </a:r>
                    </a:p>
                  </a:txBody>
                  <a:tcPr marL="91440" marR="91440" marT="45720" marB="45720">
                    <a:solidFill>
                      <a:srgbClr val="4F6F52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链接解析成功率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 80%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低于 70% 不扩大内测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日回访率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 40%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低于 30% 说明闭环不成立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周消化率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 20%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北极星指标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摘要有用度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 4.0/5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用户主观评分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手动补文案率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≤ 20%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4A3B2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反推解析质量</a:t>
                      </a:r>
                    </a:p>
                  </a:txBody>
                  <a:tcPr marL="91440" marR="91440" marT="45720" marB="45720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9B112-1FBA-430B-9A8A-4CD20C1A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81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目标漏斗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143750" y="2724150"/>
          <a:ext xmlns:a="http://schemas.openxmlformats.org/drawingml/2006/main" cx="409575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c4eaff8114478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2E141-6F32-451F-81EA-37A1CCE8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如果目标成立，说明：用户愿意投递，卡片能替代重看，回访与消化形成习惯。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216E5-7C9F-4CBA-989E-6FD428C6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18964406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E512E-AA62-401A-8226-AF32DA25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13 / 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0A166-141E-46FA-A5DF-192C406E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C1089-783A-4DB0-AFDF-F32B12B1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FA3B8-A86B-464E-8A96-E4A4249D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面试中不把“做了很多”当成果，讲清楚为什么这样做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3582E-C4FB-4633-8D06-5DBB14C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复盘：这个项目让我更确定的三件事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0C5D-C610-40FC-A7DD-4E2D98D1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858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E4D51-C267-47C3-B1E5-BDDCC885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38AF6-8065-4ACB-883D-C6EB9725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问题定义先于功能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780F2-FCC5-42B1-9AE0-CE54FBA4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“收藏吃灰”不是收藏问题，而是收藏后的理解、回访与消化问题。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D61D4-F2B1-4623-8049-B2602880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6858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86C87-23A6-4B5E-B984-90CEE9B3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94A83-78AD-447E-951A-999B0C03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状态与兜底决定体验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C2F70-DDF1-4EC4-A3AF-DCAEA277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解析失败、部分成功、重试、补文案都必须有明确状态，否则用户会再次失去内容。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0131E-4D12-4B15-8245-DBD5802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6858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10458-77C4-442F-A436-44057D74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D1947-89DC-4B0E-BA48-A3D89D8A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结果必须可验证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71BE2-0F6A-4895-A174-1319A157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把北极星指标定为周消化率，而不是只关注下载量、收藏量或停留时间。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80D121-316C-41C6-A513-0A0BD146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34480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4F6F52"/>
          </a:solidFill>
          <a:ln xmlns:a="http://schemas.openxmlformats.org/drawingml/2006/main" w="0">
            <a:solidFill>
              <a:srgbClr val="4F6F5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C7162-8490-416C-96EE-D85F039E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下一步验证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D7D49-CEF1-4188-9432-9E73EF45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rPr>
              <a:t>1. 访谈 8–12 名真实收藏用户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rPr>
              <a:t>2. 测试知识卡是否能在 30 秒内被理解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rPr>
              <a:t>3. 观察用户是否真的回来标记“已消化”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DE8D8"/>
                </a:solidFill>
                <a:latin typeface="Helvetica Neue"/>
                <a:ea typeface="Helvetica Neue"/>
                <a:cs typeface="Helvetica Neue"/>
              </a:rPr>
              <a:t>4. 再判断是否扩展到更多平台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A3554-EFB9-4840-A283-30059B1D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作品集限制：这是产品方案与原型阶段项目，结果部分使用内测目标而非真实上线数据。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C1052-FF8E-477E-91BF-122CBA0B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8501090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77D583-B75A-4D7C-AABE-369351D0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附录 / 面试题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BA7AC-4E54-4C4B-9B6B-9AFA48C6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059E6-0057-4D04-BF45-277C0AAE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F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D7DD2-7CA7-4BD9-B5A4-75BA517B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先找问题，再看需求；先判断价值，再决定排期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CA11A-A15F-41A1-9503-C00C4903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附：如何挖掘需求，来自用户的需求如何处理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EE161-AFA5-4C1A-A613-554ABA52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需求来源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0B670-0886-4820-9739-BFF0F02A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3429000" cy="278130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9525">
            <a:solidFill>
              <a:srgbClr val="D8C7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57B12-BC6F-40BC-8AB9-BEEF70AE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9146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用户侧：访谈、问卷、评价、客服、社群反馈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行为侧：搜索、点击、留存、流失、路径数据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业务侧：销售反馈、运营诉求、战略目标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A3B2A"/>
                </a:solidFill>
                <a:latin typeface="Helvetica Neue"/>
                <a:ea typeface="Helvetica Neue"/>
                <a:cs typeface="Helvetica Neue"/>
              </a:rPr>
              <a:t>行业侧：竞品变化、平台规则、公开研究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695D5-5191-467C-A732-287014CA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43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来自用户的需求如何处理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D1CD2-F50A-46E6-ACAE-9E1E9E7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8BFB1-A02E-4BB0-967D-F9EC2313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收集原话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9512A-2EDD-487A-B832-88F4A20C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24150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记录场景、行为、替代方案，不只记录功能诉求。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CAFDA-7DE0-4B68-806D-427BDBB8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5EF7F-45F9-440D-A1A1-A6DCFED1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004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去重归类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33E46-E325-4E3C-B618-807D7985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00400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把相似问题合并，区分表面需求和底层任务。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04956-6257-4610-9E9E-6DAD62B4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D3650-1723-4AD8-8468-1069FF31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验证真伪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33791-F325-466D-913F-2654598F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76650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用行为数据、访谈追问、原型测试判断是否高频且高代价。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20A41-C0C7-4E52-9745-A094C0CC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465223-EEAC-4C20-892F-9837C79F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529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定义问题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06681-0E90-4A07-9B21-5AB0D02A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52900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输出用户、场景、痛点、目标和成功标准。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69C59-8F81-4A91-BD34-2955E4A4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48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BA206-6E9B-42F4-8EDC-A7731342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2915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优先级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81B05-B2D3-445F-8771-CF152280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629150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按影响、频率、成本、战略匹配度排序。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8F539-0D9C-46B4-BE72-56B10272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244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2134A-D70F-49FD-B181-8E7970A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05400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F6F52"/>
                </a:solidFill>
                <a:latin typeface="Helvetica Neue"/>
                <a:ea typeface="Helvetica Neue"/>
                <a:cs typeface="Helvetica Neue"/>
              </a:rPr>
              <a:t>闭环验证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701927-291F-49E8-BAFF-050E5A54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05400"/>
            <a:ext cx="541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上线后看行为指标和反馈，再决定迭代或止损。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999DA3-31C7-402A-9F6D-0958F111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5C4A"/>
                </a:solidFill>
                <a:latin typeface="Helvetica Neue"/>
                <a:ea typeface="Helvetica Neue"/>
                <a:cs typeface="Helvetica Neue"/>
              </a:rPr>
              <a:t>核心原则：听用户的问题，不直接采纳用户的方案；先判断问题是否值得解决，再决定怎么做。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7FD74-44D0-4CE7-B97D-9290DC94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7A6A58"/>
                </a:solidFill>
                <a:latin typeface="Helvetica Neue"/>
                <a:ea typeface="Helvetica Neue"/>
                <a:cs typeface="Helvetica Neue"/>
              </a:rPr>
              <a:t>知识罐罐 App 产品经理作品集</a:t>
            </a:r>
          </a:p>
        </p:txBody>
      </p:sp>
    </p:spTree>
    <p:extLst>
      <p:ext uri="{BB962C8B-B14F-4D97-AF65-F5344CB8AC3E}">
        <p14:creationId xmlns:p14="http://schemas.microsoft.com/office/powerpoint/2010/main" val="1694472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2026-09-19T11:58:02.0230000Z</dcterms:created>
  <dcterms:modified xsi:type="dcterms:W3CDTF">2026-09-19T11:58:02.0230000Z</dcterms:modified>
</coreProperties>
</file>